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e7ea36d51445ea" /><Relationship Type="http://schemas.openxmlformats.org/officeDocument/2006/relationships/extended-properties" Target="/docProps/app.xml" Id="R9026e091b77549bd" /><Relationship Type="http://schemas.openxmlformats.org/officeDocument/2006/relationships/officeDocument" Target="/ppt/presentation.xml" Id="R829737b9fa754a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dab7a613442ed"/>
  </p:sldMasterIdLst>
  <p:notesMasterIdLst>
    <p:notesMasterId xmlns:r="http://schemas.openxmlformats.org/officeDocument/2006/relationships" r:id="R9e26193bd4cc4fc2"/>
  </p:notesMasterIdLst>
  <p:sldIdLst>
    <p:sldId xmlns:r="http://schemas.openxmlformats.org/officeDocument/2006/relationships" id="256" r:id="R6efbc3d62f6845c2"/>
  </p:sldIdLst>
  <p:sldSz cx="16030575" cy="22707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dab7a613442ed" /><Relationship Type="http://schemas.openxmlformats.org/officeDocument/2006/relationships/theme" Target="/ppt/theme/theme1.xml" Id="R3aec392915b24dfe" /><Relationship Type="http://schemas.openxmlformats.org/officeDocument/2006/relationships/notesMaster" Target="/ppt/notesMasters/notesMaster1.xml" Id="R9e26193bd4cc4fc2" /><Relationship Type="http://schemas.openxmlformats.org/officeDocument/2006/relationships/presProps" Target="/ppt/presProps.xml" Id="R04c75fd7b04a4d8f" /><Relationship Type="http://schemas.openxmlformats.org/officeDocument/2006/relationships/viewProps" Target="/ppt/viewProps.xml" Id="Reb8f1fb0b2074170" /><Relationship Type="http://schemas.openxmlformats.org/officeDocument/2006/relationships/tableStyles" Target="/ppt/tableStyles.xml" Id="Re279a880f84846fe" /><Relationship Type="http://schemas.openxmlformats.org/officeDocument/2006/relationships/slide" Target="/ppt/slides/slide1.xml" Id="R6efbc3d62f68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744db6d307d47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4f9a1e4789463e" /><Relationship Type="http://schemas.openxmlformats.org/officeDocument/2006/relationships/notesMaster" Target="/ppt/notesMasters/notesMaster1.xml" Id="R7516d5e330d240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c45a425ae4aa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a1c1719fb564c40" /><Relationship Type="http://schemas.openxmlformats.org/officeDocument/2006/relationships/slideLayout" Target="/ppt/slideLayouts/slideLayout2.xml" Id="R8013e78b4ce64f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13e78b4ce64f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51edbe83054c44" /><Relationship Type="http://schemas.openxmlformats.org/officeDocument/2006/relationships/image" Target="/ppt/media/image.png" Id="R8e73faf85dee4900" /><Relationship Type="http://schemas.openxmlformats.org/officeDocument/2006/relationships/image" Target="/ppt/media/image.jpeg" Id="R1554cb3e92a34481" /><Relationship Type="http://schemas.openxmlformats.org/officeDocument/2006/relationships/image" Target="/ppt/media/image2.png" Id="R80700a9680a244b0" /><Relationship Type="http://schemas.openxmlformats.org/officeDocument/2006/relationships/image" Target="/ppt/media/image3.png" Id="Refd391d4bc254a27" /><Relationship Type="http://schemas.openxmlformats.org/officeDocument/2006/relationships/image" Target="/ppt/media/image4.png" Id="R99f9dbd129754fac" /><Relationship Type="http://schemas.openxmlformats.org/officeDocument/2006/relationships/image" Target="/ppt/media/image5.png" Id="R6d7b048c80cd4e70" /><Relationship Type="http://schemas.openxmlformats.org/officeDocument/2006/relationships/image" Target="/ppt/media/image6.png" Id="Ra417acfb6db0482c" /><Relationship Type="http://schemas.openxmlformats.org/officeDocument/2006/relationships/image" Target="/ppt/media/image7.png" Id="R6d8ca8e6358349a3" /><Relationship Type="http://schemas.openxmlformats.org/officeDocument/2006/relationships/image" Target="/ppt/media/image8.png" Id="R7f8cf60e54774917" /><Relationship Type="http://schemas.openxmlformats.org/officeDocument/2006/relationships/image" Target="/ppt/media/image9.png" Id="R52d9376079464bb4" /><Relationship Type="http://schemas.openxmlformats.org/officeDocument/2006/relationships/notesSlide" Target="/ppt/notesSlides/notesSlide1.xml" Id="R92b0655cce1a4a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175C31-393C-47AE-9C6F-FF370572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030575" cy="2270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66301-103C-44AF-9903-1F301130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0305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58595-C4AD-408C-A678-CF224277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66950"/>
            <a:ext cx="160305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3faf85dee4900"/>
          <a:stretch xmlns:a="http://schemas.openxmlformats.org/drawingml/2006/main"/>
        </p:blipFill>
        <p:spPr>
          <a:xfrm xmlns:a="http://schemas.openxmlformats.org/drawingml/2006/main">
            <a:off x="95250" y="116562"/>
            <a:ext cx="2190750" cy="586026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4cb3e92a34481"/>
          <a:srcRect xmlns:a="http://schemas.openxmlformats.org/drawingml/2006/main" l="0" t="17448" r="0" b="174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44600" y="1028700"/>
            <a:ext cx="1952625" cy="1028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E4CEE-CEE1-439B-8A43-874A5176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762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950" b="0">
                <a:solidFill>
                  <a:srgbClr val="6B3FA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6B3FA0"/>
                </a:solidFill>
                <a:latin typeface="Aptos"/>
                <a:ea typeface="Aptos"/>
                <a:cs typeface="Aptos"/>
              </a:rPr>
              <a:t>Go, change the 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206B5-6EFA-4004-B91A-1082E33C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VIII SEMESTER MAJOR PROJECT (CY481P)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98F35-4C5F-403D-A7E3-4A78AFD1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85800"/>
            <a:ext cx="1133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D00000"/>
                </a:solidFill>
                <a:latin typeface="Aptos Display"/>
                <a:ea typeface="Aptos Display"/>
                <a:cs typeface="Aptos Display"/>
              </a:rPr>
              <a:t>VYUHA: Cross-Layer EDR Kill-Chain Evasion via</a:t>
            </a:r>
          </a:p>
          <a:p xmlns:a="http://schemas.openxmlformats.org/drawingml/2006/main">
            <a:pPr algn="ctr">
              <a:defRPr sz="2025" b="1">
                <a:solidFill>
                  <a:srgbClr val="D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D00000"/>
                </a:solidFill>
                <a:latin typeface="Aptos Display"/>
                <a:ea typeface="Aptos Display"/>
                <a:cs typeface="Aptos Display"/>
              </a:rPr>
              <a:t>Deep Reinforcement Learning-Guided Adversarial Orchestration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1A2E4-0F19-4237-BB1E-5C50C0FA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4287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Bandaru Jnyanadeep | Bipin Raj C | Karthik Prakash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62ED9-5888-4371-AD6B-4F54F874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24025"/>
            <a:ext cx="6477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1RV22CY017 | 1RV22CY020 | 1RV22CS081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E168E-C759-4B82-8EB5-B14193AD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0250"/>
            <a:ext cx="1057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Guides: Dr. Minal Moharir, RVCE | Dr. Sebastian Biedermann, Technical University of Applied Sciences, Germany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1C8CB-044B-4708-81E1-D7B9098B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381250"/>
            <a:ext cx="8001000" cy="2017395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3A3A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7BB1E-05F6-42D6-B911-4A4D669B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7762875" cy="20173950"/>
          </a:xfrm>
          <a:prstGeom xmlns:a="http://schemas.openxmlformats.org/drawingml/2006/main" prst="roundRect">
            <a:avLst>
              <a:gd name="adj" fmla="val 9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3A3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200BF-C1D2-4D96-8B3C-3F02DAE0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003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E47B2-F635-4FEF-85DB-2FA6F60E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8765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BE2D8-A5B9-4801-95E1-4BC8F951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432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34EC6-4ABD-4D05-8C06-04DEAE6F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765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3FF69-8A41-4D76-8E3E-F76D7F46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752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VYUHA is a controlled defensive validation framework for testing whether EDR products detect, block, or miss cross-layer evasion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It combines four modules: BYOVD, EDR-Freeze, Crystal Palace reflective loading, and SysWhispers4 direct syscall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DQN selector learns product-specific action choices, while SHAP, clustering, and transfer learning explain defensive patterns.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61652-2F71-46B3-AAD9-DB27ACF5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9055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02C235-3B53-4CF1-B848-334CAD28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9817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A3CF9-4631-4474-8280-5C03340B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2484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56FEE-5921-4AF9-AAF4-FB6FC5D9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9817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74BD7-F46D-4595-90D4-02FB35B3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29400"/>
            <a:ext cx="752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Modern EDR products observe many endpoint layers, but their detection chain can break at driver trust, process availability, memory inspection, or API-hook visibility.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Existing evaluations often test fixed techniques manually, so they miss how products behave when attack sequencing adapts to previous responses.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3BD0F-8022-4EF0-8DE1-7D282BC4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429625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E37FC-E27A-49D9-A5AD-2263BEEB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8505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BA19F-7EC6-4001-85FB-FCDD9915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87725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D79951-378C-44BF-A27C-C0F5C690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505825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77E44A-1337-4D96-9486-0A89938B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144000"/>
            <a:ext cx="7524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Build a modular C++17 framework for controlled EDR evaluation.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Execute four ATT&amp;CK-mapped techniques across kernel, process, memory, and syscall layers.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Record success, detection, blocking, time-to-detection, cleanup, and export evidence.</a:t>
            </a:r>
          </a:p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Use DQN selection plus SHAP, clustering, and transfer learning for explainable comparison.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90A64-DF3E-47B0-A90A-88A4A0D8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15252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3BB4A4-5199-4964-AA87-65849F2A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1601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A548DD-0AE7-4389-881D-166630F4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1868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A78E4-4377-4E8E-B675-36502C54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16014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FE56A6-365F-4B5E-AD46-60BC2C14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249150"/>
            <a:ext cx="7524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Each run starts from a restored Windows 11 VM snapshot. VYUHA installs one EDR profile, dispatches a selected module, captures alerts, process state, timing, and cleanup status, then computes metrics and reward features. The ML layer uses the same result schema to recommend the next action.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00a9680a244b0"/>
          <a:stretch xmlns:a="http://schemas.openxmlformats.org/drawingml/2006/main"/>
        </p:blipFill>
        <p:spPr>
          <a:xfrm xmlns:a="http://schemas.openxmlformats.org/drawingml/2006/main">
            <a:off x="539426" y="13811250"/>
            <a:ext cx="7017398" cy="36195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391d4bc254a27"/>
          <a:stretch xmlns:a="http://schemas.openxmlformats.org/drawingml/2006/main"/>
        </p:blipFill>
        <p:spPr>
          <a:xfrm xmlns:a="http://schemas.openxmlformats.org/drawingml/2006/main">
            <a:off x="1369219" y="17602200"/>
            <a:ext cx="5357813" cy="333375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9dbd129754fac"/>
          <a:stretch xmlns:a="http://schemas.openxmlformats.org/drawingml/2006/main"/>
        </p:blipFill>
        <p:spPr>
          <a:xfrm xmlns:a="http://schemas.openxmlformats.org/drawingml/2006/main">
            <a:off x="2954734" y="21164550"/>
            <a:ext cx="2186781" cy="11049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CAF3FA-76A8-4D43-B22A-89218CCE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03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E32A81-23F6-4818-BE6E-FA16699B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765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9CD143-CD98-42D1-9A20-8BC90BCE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432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91099B-B463-40DC-8681-FBDB5F06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765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85117-EB42-4BC4-A958-5E255908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1333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5D0B74-7403-463C-8EAE-662FE8E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6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385148-B74B-47C7-B077-3399D6E9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361E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361EE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74EBCC-387E-4836-AD12-BBF3F84D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338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attack instances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85B38A-F63A-45CF-94FA-75BF4A38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43300"/>
            <a:ext cx="1333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B006B9-6742-4C25-8CBC-E1289991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433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569919-AA83-46C4-8B04-88F9CBCD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5C1548-85B0-41FF-9D08-3ABBC24A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338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EDR products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31E627-164D-49F2-A29D-16C9A25B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543300"/>
            <a:ext cx="1333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9C0CBD-EAFE-4E61-838B-0D87F7CF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5433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30D5CD-458A-4EAB-BF60-8A942FB8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6766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7495AE-6EC1-477B-BB95-E2ED18B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41338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technique layers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AA2FAF-ADB7-4BF1-8515-4B1FB6A3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543300"/>
            <a:ext cx="1333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6C3785-0B29-4131-9642-9A296D0C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5433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1609E6-79E2-487E-A71E-B2313364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6766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27%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15CEDA-C55A-4D3C-9EE4-F277FADA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1338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lowest mean detection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06DBEE-16D6-4C44-908C-F13B123F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543300"/>
            <a:ext cx="1333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26A7FD0-7633-46F0-8180-865426C0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5433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44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91505-3D90-4006-858C-DF14B9A6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36766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E44A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E44AD"/>
                </a:solidFill>
                <a:latin typeface="Aptos"/>
                <a:ea typeface="Aptos"/>
                <a:cs typeface="Aptos"/>
              </a:rPr>
              <a:t>4.0x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3965DB-A58F-48D4-8871-4E21B8C1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41338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transfer speedup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b048c80cd4e70"/>
          <a:stretch xmlns:a="http://schemas.openxmlformats.org/drawingml/2006/main"/>
        </p:blipFill>
        <p:spPr>
          <a:xfrm xmlns:a="http://schemas.openxmlformats.org/drawingml/2006/main">
            <a:off x="8607835" y="4905375"/>
            <a:ext cx="6882581" cy="381000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7acfb6db0482c"/>
          <a:stretch xmlns:a="http://schemas.openxmlformats.org/drawingml/2006/main"/>
        </p:blipFill>
        <p:spPr>
          <a:xfrm xmlns:a="http://schemas.openxmlformats.org/drawingml/2006/main">
            <a:off x="8790781" y="8953500"/>
            <a:ext cx="6611938" cy="2333625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ca8e6358349a3"/>
          <a:stretch xmlns:a="http://schemas.openxmlformats.org/drawingml/2006/main"/>
        </p:blipFill>
        <p:spPr>
          <a:xfrm xmlns:a="http://schemas.openxmlformats.org/drawingml/2006/main">
            <a:off x="8662177" y="11572875"/>
            <a:ext cx="6821521" cy="31432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CAE2E1-99E1-4094-97D4-D8D88496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49542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071C6B-3137-4195-AE55-D1BE76A2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030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59A148-A882-4AE8-90B3-841B290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15297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22BF26C-6EC7-4AFA-92B6-EF5C6771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503045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Key Findings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A0DF95-B578-470E-BEA7-18CFB7BC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78150"/>
            <a:ext cx="70008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SentinelOne and Huntress blocked BYOVD and EDR-Freeze in every run.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Crystal Palace and SysWhispers4 still created partial bypasses in stronger products.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OpenEDR had the weakest coverage, with several successful runs and no visible alert.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 SysWhispers4 had the lowest mean detection rate, showing that user-mode hook coverage is incomplete.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cf60e54774917"/>
          <a:stretch xmlns:a="http://schemas.openxmlformats.org/drawingml/2006/main"/>
        </p:blipFill>
        <p:spPr>
          <a:xfrm xmlns:a="http://schemas.openxmlformats.org/drawingml/2006/main">
            <a:off x="9915525" y="17506950"/>
            <a:ext cx="4267200" cy="2133600"/>
          </a:xfrm>
          <a:prstGeom xmlns:a="http://schemas.openxmlformats.org/drawingml/2006/main" prst="rect">
            <a:avLst/>
          </a:prstGeom>
        </p:spPr>
      </p:pic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F1CD82-C7C1-4A54-8294-281737BF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7739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5BAE20-86AA-4E34-B365-8493E410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850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720B5B-177F-4965-BFC8-CC0943F7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201168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CCE4E7-CB5C-4657-8C20-89C1995C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850100"/>
            <a:ext cx="447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81CE1C-1152-430B-95A4-2D7D9345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40650"/>
            <a:ext cx="5810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Karantzas &amp; Patsakis (2021), Empirical assessment of EDR systems against APT vectors.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MDSec Research (2020), Bypassing user-mode hooks and direct invocation of system calls.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Haag, Bradley &amp; Hernandez (2025), Living Off The Land Drivers.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Mnih et al. (2013), Playing Atari with Deep Reinforcement Learning.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Lundberg &amp; Lee (2017), SHAP: A unified approach to interpreting model predictions.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Pan &amp; Yang (2010), A survey on transfer learning.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9376079464bb4"/>
          <a:stretch xmlns:a="http://schemas.openxmlformats.org/drawingml/2006/main"/>
        </p:blipFill>
        <p:spPr>
          <a:xfrm xmlns:a="http://schemas.openxmlformats.org/drawingml/2006/main">
            <a:off x="14573250" y="20669250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B66A14B-27FE-4C37-A955-6343FAFA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17170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Report QR</a:t>
            </a:r>
          </a:p>
        </p:txBody>
      </p:sp>
    </p:spTree>
    <p:extLst>
      <p:ext uri="{BB962C8B-B14F-4D97-AF65-F5344CB8AC3E}">
        <p14:creationId xmlns:p14="http://schemas.microsoft.com/office/powerpoint/2010/main" val="2048099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2026-06-01T14:15:32.9290000Z</dcterms:created>
  <dcterms:modified xsi:type="dcterms:W3CDTF">2026-06-01T14:15:32.9300000Z</dcterms:modified>
</coreProperties>
</file>